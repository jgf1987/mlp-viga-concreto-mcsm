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Previsão da Carga de Ruptura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Vigas de Concreto Armado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88920"/>
            <a:ext cx="5760720" cy="54864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F0E8"/>
                </a:solidFill>
              </a:rPr>
              <a:t>Utilizando Redes Neurais Multilayer Perceptron (MLP)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B896"/>
                </a:solidFill>
              </a:rPr>
              <a:t>Maria Luiza A. Xavier   |   Jordana G. Fernandes   |   Rayre J. V. Silva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434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B4C8"/>
                </a:solidFill>
              </a:rPr>
              <a:t>Universidade Estadual de Montes Claros (UNIMONTES)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III MCSM — 13 a 15 de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0350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8E8"/>
                </a:solidFill>
              </a:rPr>
              <a:t>github.com/JGF1987/mlp-viga-concreto-mcsm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DESAFIOS NO DIMENSIONAMENTO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76AE"/>
                </a:solidFill>
              </a:rPr>
              <a:t>Limitações Normativas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Equações das normas (NBR 6118, ACI 318) são calibradas para
configurações típicas e utilizam hipóteses simplificadoras.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176AE"/>
                </a:solidFill>
              </a:rPr>
              <a:t>●  </a:t>
            </a:r>
            <a:r>
              <a:rPr sz="1600">
                <a:solidFill>
                  <a:srgbClr val="1B3566"/>
                </a:solidFill>
              </a:rPr>
              <a:t>Negligenciam interações não lineares complexas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176AE"/>
                </a:solidFill>
              </a:rPr>
              <a:t>●  </a:t>
            </a:r>
            <a:r>
              <a:rPr sz="1600">
                <a:solidFill>
                  <a:srgbClr val="1B3566"/>
                </a:solidFill>
              </a:rPr>
              <a:t>Limitadas em geometrias e taxas de armadura não convencionais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176AE"/>
                </a:solidFill>
              </a:rPr>
              <a:t>●  </a:t>
            </a:r>
            <a:r>
              <a:rPr sz="1600">
                <a:solidFill>
                  <a:srgbClr val="1B3566"/>
                </a:solidFill>
              </a:rPr>
              <a:t>Dificuldade em capturar comportamentos mecânicos intrincados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176AE"/>
                </a:solidFill>
              </a:rPr>
              <a:t>●  </a:t>
            </a:r>
            <a:r>
              <a:rPr sz="1600">
                <a:solidFill>
                  <a:srgbClr val="1B3566"/>
                </a:solidFill>
              </a:rPr>
              <a:t>RMSE empírico típico: 12–17 kN·m (Khan et al., 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28016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5961888"/>
            <a:ext cx="5120640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6AE"/>
                </a:solidFill>
              </a:rPr>
              <a:t>Por que Machine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B3566"/>
                </a:solidFill>
              </a:rPr>
              <a:t>●  </a:t>
            </a:r>
            <a:r>
              <a:rPr sz="1400">
                <a:solidFill>
                  <a:srgbClr val="444444"/>
                </a:solidFill>
              </a:rPr>
              <a:t>Modelos de ML superam equações empíricas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B3566"/>
                </a:solidFill>
              </a:rPr>
              <a:t>●  </a:t>
            </a:r>
            <a:r>
              <a:rPr sz="1400">
                <a:solidFill>
                  <a:srgbClr val="444444"/>
                </a:solidFill>
              </a:rPr>
              <a:t>Capturam relações não lineares automaticamente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B3566"/>
                </a:solidFill>
              </a:rPr>
              <a:t>●  </a:t>
            </a:r>
            <a:r>
              <a:rPr sz="1400">
                <a:solidFill>
                  <a:srgbClr val="444444"/>
                </a:solidFill>
              </a:rPr>
              <a:t>Aplicáveis a ensaios não destrutivos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B3566"/>
                </a:solidFill>
              </a:rPr>
              <a:t>●  </a:t>
            </a:r>
            <a:r>
              <a:rPr sz="1400">
                <a:solidFill>
                  <a:srgbClr val="444444"/>
                </a:solidFill>
              </a:rPr>
              <a:t>Escaláveis para bases de dados reais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APRENDIZADO DE MÁQUINA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Precisão Elevada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Modelos de ML superam consistentemente expressões normativas em tarefas de previsão estrutural.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Relacionamentos Ocultos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Capacidade de mapear relações não lineares entre resistência, taxa de armadura e geometria.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Eficiência de Tempo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Métodos promissores para análise rápida e ensaios não destrutivos em estruturas reais.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FUNDAMENTOS DA REDE MLP</a:t>
            </a:r>
          </a:p>
        </p:txBody>
      </p:sp>
      <p:pic>
        <p:nvPicPr>
          <p:cNvPr id="5" name="Picture 4" descr="fig_mlp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217920" cy="4846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76AE"/>
                </a:solidFill>
              </a:rPr>
              <a:t>Arquitetura Multicamadas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Processamento através de neurônios artificiais
totalmente conectados: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6517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Camada de Entrada: recebe os parâmetros físicos (fc, ρ, d)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Camadas Ocultas: aprendem representações intermediárias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Camada de Saída: estimativa contínua de P (kN)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Pesos ajustados por retropropagação com Adam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ATIVAÇÃO E OTIMIZAÇÃO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6AE"/>
                </a:solidFill>
              </a:rPr>
              <a:t>Tangente Hiperbólica (tanh)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Mapeia saídas para (−1, 1), produzindo gradientes suaves e evitando saturação assimétrica. Preferível à ReLU em regressões com escalas heterogêneas.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6AE"/>
                </a:solidFill>
              </a:rPr>
              <a:t>Otimizador Adam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Combina momentum de 1ª e 2ª ordem, adaptando a taxa de aprendizado individualmente para cada parâmetro — convergência mais rápida.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6AE"/>
                </a:solidFill>
              </a:rPr>
              <a:t>Normalização Min-Max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Escala variáveis para [0, 1]: x' = (x − xₘᵢₙ)/(xₘₐₓ − xₘᵢₙ). Evita saturação precoce dos neurônios durante o treinamento.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GERAÇÃO DE DADOS SINTÉTICOS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 base de dados foi gerada por uma relação analítica que introduz
não linearidade mecânica real e ruído gaussiano experimental: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3566"/>
                </a:solidFill>
              </a:rPr>
              <a:t>P  =  0,35 · fc  +  12 · ρ  +  2,1 · d  −  0,02 · fc · d  + 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2176AE"/>
                </a:solidFill>
              </a:rPr>
              <a:t>●  </a:t>
            </a:r>
            <a:r>
              <a:rPr sz="1500">
                <a:solidFill>
                  <a:srgbClr val="1B3566"/>
                </a:solidFill>
              </a:rPr>
              <a:t>fc ∈ [25, 50] MPa — Resistência à compressão do concreto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176AE"/>
                </a:solidFill>
              </a:rPr>
              <a:t>●  </a:t>
            </a:r>
            <a:r>
              <a:rPr sz="1500">
                <a:solidFill>
                  <a:srgbClr val="1B3566"/>
                </a:solidFill>
              </a:rPr>
              <a:t>ρ  ∈ [0,5%, 2,5%] — Taxa de armadura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176AE"/>
                </a:solidFill>
              </a:rPr>
              <a:t>●  </a:t>
            </a:r>
            <a:r>
              <a:rPr sz="1500">
                <a:solidFill>
                  <a:srgbClr val="1B3566"/>
                </a:solidFill>
              </a:rPr>
              <a:t>d  ∈ [30, 60] cm — Altura útil da seção transversal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176AE"/>
                </a:solidFill>
              </a:rPr>
              <a:t>●  </a:t>
            </a:r>
            <a:r>
              <a:rPr sz="1500">
                <a:solidFill>
                  <a:srgbClr val="1B3566"/>
                </a:solidFill>
              </a:rPr>
              <a:t>ε  ~ N(0; 1,5) — Ruído gaussiano (simula variações experimentais)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176AE"/>
                </a:solidFill>
              </a:rPr>
              <a:t>●  </a:t>
            </a:r>
            <a:r>
              <a:rPr sz="1500">
                <a:solidFill>
                  <a:srgbClr val="1B3566"/>
                </a:solidFill>
              </a:rPr>
              <a:t>Termo −0,02 · fc · d: interação não linear intr ínseca ao comportamento estrutural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AMOSTRAS DA BASE DE DADOS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86410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43000"/>
                <a:gridCol w="1143000"/>
                <a:gridCol w="1691640"/>
                <a:gridCol w="1783080"/>
                <a:gridCol w="1325880"/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fc (MPa)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ρ (%)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 (cm)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 Real (kN)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 Previsto (kN)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Erro (%)</a:t>
                      </a:r>
                    </a:p>
                  </a:txBody>
                  <a:tcPr>
                    <a:solidFill>
                      <a:srgbClr val="1B3566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78,26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−0,17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1,0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91,2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90,99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−0,23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105,04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1,5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119,3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120,33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+0,86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138,7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138,84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2,0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156,1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156,15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+0,03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172,14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−0,44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2,5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191,4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191,81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+0,22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93,8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93,52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−0,30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1,3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128,6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127,79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−0,63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Dados normalizados min-max para o treinamento  |  III MCSM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CONFIGURAÇÃO DA REDE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Entrada: 3 neurônios (fc, ρ, 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Camada Oculta 1: 16 neurônios (ativação Tanh)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Camada Oculta 2: 8 neurônios (ativação Tanh)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Saída: 1 neurônio (ativação Linear — Regressão)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Otimizador: Adam  |  η = 0,01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176AE"/>
                </a:solidFill>
              </a:rPr>
              <a:t>●  </a:t>
            </a:r>
            <a:r>
              <a:rPr sz="1700">
                <a:solidFill>
                  <a:srgbClr val="1B3566"/>
                </a:solidFill>
              </a:rPr>
              <a:t>Épocas: 1.000  |  Função de custo: MSE</a:t>
            </a:r>
          </a:p>
        </p:txBody>
      </p:sp>
      <p:pic>
        <p:nvPicPr>
          <p:cNvPr id="6" name="Picture 5" descr="fig_mlp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486400" cy="42766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RESULTADOS DE TREINAMENTO</a:t>
            </a:r>
          </a:p>
        </p:txBody>
      </p:sp>
      <p:pic>
        <p:nvPicPr>
          <p:cNvPr id="5" name="Picture 4" descr="fig_metricas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9418320" cy="51823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CURVA DE TREINAMENTO E DISPERSÃO</a:t>
            </a:r>
          </a:p>
        </p:txBody>
      </p:sp>
      <p:pic>
        <p:nvPicPr>
          <p:cNvPr id="5" name="Picture 4" descr="fig1_curva_trein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806440" cy="3870960"/>
          </a:xfrm>
          <a:prstGeom prst="rect">
            <a:avLst/>
          </a:prstGeom>
        </p:spPr>
      </p:pic>
      <p:pic>
        <p:nvPicPr>
          <p:cNvPr id="6" name="Picture 5" descr="fig2_real_vs_previ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806440" cy="2639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89320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</a:rPr>
              <a:t>MSE cai ~4 ordens de grandeza em 1.000 épocas — convergência estável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989320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</a:rPr>
              <a:t>MLP (R²=0,9998) supera amplamente Regressão Linear (R²=0,9960)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SENSIBILIDADE E SUPERFÍCIE 3D</a:t>
            </a:r>
          </a:p>
        </p:txBody>
      </p:sp>
      <p:pic>
        <p:nvPicPr>
          <p:cNvPr id="5" name="Picture 4" descr="fig3_sensi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50040" cy="3776799"/>
          </a:xfrm>
          <a:prstGeom prst="rect">
            <a:avLst/>
          </a:prstGeom>
        </p:spPr>
      </p:pic>
      <p:pic>
        <p:nvPicPr>
          <p:cNvPr id="6" name="Picture 5" descr="fig4_superfici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31920"/>
            <a:ext cx="11750040" cy="50357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ANÁLISE DE ADERÊNCIA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76AE"/>
                </a:solidFill>
              </a:rPr>
              <a:t>Captura da Não Linearidade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 aderência à linha de identidade confirma que a MLP
aprendeu com precisão o termo de interação fc·d.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Erros percentuais máximos inferiores a 1% em todas as
10 amostras validam a eficácia da arquitetura proposta
frente a modelos tradicionais.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R² = 0,9998  vs.  R² = 0,9960 (Regressão Linear)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RMSE = 0,54 kN  vs.  RMSE ≈ 12–17 kN·m (modelos empíricos)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76AE"/>
                </a:solidFill>
              </a:rPr>
              <a:t>●  </a:t>
            </a:r>
            <a:r>
              <a:rPr sz="1400">
                <a:solidFill>
                  <a:srgbClr val="1B3566"/>
                </a:solidFill>
              </a:rPr>
              <a:t>Superior ao melhor modelo da literatura: R² = 0,982
  (Özyüksel Çiftçioğlu et al., 2025)</a:t>
            </a:r>
          </a:p>
        </p:txBody>
      </p:sp>
      <p:pic>
        <p:nvPicPr>
          <p:cNvPr id="9" name="Picture 8" descr="fig5_residu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94960" cy="22070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CONCLUSÕES DO ESTUDO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 MLP demonstrou alta capacidade de ajuste (R²=0,9998), capturando efeitos não lineares intrínsecos ao concreto armado.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Vantagem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Redução drástica do erro comparado a modelos empíricos (RMSE de ~15 kN reduzido para 0,54 kN) e superiora à literatura recente.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37160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6053328"/>
            <a:ext cx="3749039" cy="7315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76AE"/>
                </a:solidFill>
              </a:rPr>
              <a:t>Perspectivas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Ampliar a base com dados experimentais reais e avaliar a generalização via validação cruzada k-fold.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III MCSM 2026  |  UNIMONTES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Disponibilidade do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11430000" cy="914400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github.com/JGF1987/mlp-viga-concreto-mcsm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</a:rPr>
              <a:t>problema4_mlp.py   |   visualizacoes_p4.py   |   gerar_word_artigo.py
figuras/ (6 figuras em alta resolução)   |   artigo_problema4.tex   |   artigo_problema4.docx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83280"/>
            <a:ext cx="11430000" cy="54864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Agradecimentos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F0E8"/>
                </a:solidFill>
              </a:rPr>
              <a:t>Professor Marcos e Universidade Estadual de Montes Claros — UNIMONTES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00600"/>
            <a:ext cx="11430000" cy="54864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8"/>
                </a:solidFill>
              </a:rPr>
              <a:t>Maria Luiza Almeida Xavier  ·  maria.luiza.a.xavier@gmail.com
Jordana Gabriela Fernandes   ·  jordana.funai@gmail.com
Rayre Janaína Vieira Silva    ·  rayrejanaina2@gmail.com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521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B3566"/>
                </a:solidFill>
              </a:rPr>
              <a:t>Perguntas &amp; Respostas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03120" cy="73152"/>
          </a:xfrm>
          <a:prstGeom prst="rect">
            <a:avLst/>
          </a:prstGeom>
          <a:solidFill>
            <a:srgbClr val="21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4747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</a:rPr>
              <a:t>Agradecemos pela atenção!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80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566"/>
                </a:solidFill>
              </a:rPr>
              <a:t>Códigos disponíveis 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377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76AE"/>
                </a:solidFill>
              </a:rPr>
              <a:t>github.com/JGF1987/mlp-viga-concreto-mcsm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