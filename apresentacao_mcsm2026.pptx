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PREVISÃO DE CARGA DE RUPTURA
EM VIGAS DE CONCRETO ARMADO
COM REDES NEURAIS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4F0"/>
                </a:solidFill>
              </a:rPr>
              <a:t>III MCSM — Modelagem Computacional do Sertão Mineiro
13–15 de 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Maria Luiza Almeida Xavier   |   Jordana Gabriela Fernandes   |   Rayre Janaína Vieira Silva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6E4F0"/>
                </a:solidFill>
              </a:rPr>
              <a:t>Universidade Estadual de Montes Claros — UNIMONTES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Agradecimentos: professor Marcos e UNIMONTES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263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</a:rPr>
              <a:t>github.com/JGF1987/mlp-viga-concreto-mcsm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Motivação e Objetivo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Vigas de concreto armado apresentam comportamento não linear complexo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Equações normativas (NBR 6118:2023) introduzem hipóteses simplificadoras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Métodos empíricos têm RMSE de 12–17 kN·m — precisão limitada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Modelos de ML superam consistentemente equações normativas (Khan et al., 2023)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572000"/>
            <a:ext cx="11430000" cy="1737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396B"/>
                </a:solidFill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7396B"/>
                </a:solidFill>
              </a:rPr>
              <a:t>Aplicar uma rede MLP para estimar a carga de ruptura P (kN) de vigas
de concreto armado a partir de fc, ρ e d — e comparar com regressão linear.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Rede Neural MLP — Fundamentos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2176AE"/>
                </a:solidFill>
              </a:rPr>
              <a:t>▸  </a:t>
            </a:r>
            <a:r>
              <a:rPr sz="1800">
                <a:solidFill>
                  <a:srgbClr val="555555"/>
                </a:solidFill>
              </a:rPr>
              <a:t>Neurônio: z = Σ wᵢⱼ · aᵢ + b  →  a = φ(z)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2176AE"/>
                </a:solidFill>
              </a:rPr>
              <a:t>▸  </a:t>
            </a:r>
            <a:r>
              <a:rPr sz="1800">
                <a:solidFill>
                  <a:srgbClr val="555555"/>
                </a:solidFill>
              </a:rPr>
              <a:t>Ativação tanh: mapeia saída a (−1, 1), gradientes suaves, evita saturação assimétrica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2176AE"/>
                </a:solidFill>
              </a:rPr>
              <a:t>▸  </a:t>
            </a:r>
            <a:r>
              <a:rPr sz="1800">
                <a:solidFill>
                  <a:srgbClr val="555555"/>
                </a:solidFill>
              </a:rPr>
              <a:t>Normalização min-max: x' = (x − xₘᵢₙ) / (xₘₐₓ − xₘᵢₙ)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2176AE"/>
                </a:solidFill>
              </a:rPr>
              <a:t>▸  </a:t>
            </a:r>
            <a:r>
              <a:rPr sz="1800">
                <a:solidFill>
                  <a:srgbClr val="555555"/>
                </a:solidFill>
              </a:rPr>
              <a:t>Otimizador Adam: adapta taxa de aprendizado por parâmetro — convergência rápida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2176AE"/>
                </a:solidFill>
              </a:rPr>
              <a:t>▸  </a:t>
            </a:r>
            <a:r>
              <a:rPr sz="1800">
                <a:solidFill>
                  <a:srgbClr val="555555"/>
                </a:solidFill>
              </a:rPr>
              <a:t>Função de custo: MSE = (1/n) Σ (yᵢ − ŷᵢ)²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280160"/>
            <a:ext cx="402336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371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7396B"/>
                </a:solidFill>
              </a:rPr>
              <a:t>Arquitetura Adotada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74903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E07A5F"/>
                </a:solidFill>
              </a:rPr>
              <a:t>▸  </a:t>
            </a:r>
            <a:r>
              <a:rPr sz="1500">
                <a:solidFill>
                  <a:srgbClr val="17396B"/>
                </a:solidFill>
              </a:rPr>
              <a:t>Entrada: 3 neurônios (fc, ρ, d)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07A5F"/>
                </a:solidFill>
              </a:rPr>
              <a:t>▸  </a:t>
            </a:r>
            <a:r>
              <a:rPr sz="1500">
                <a:solidFill>
                  <a:srgbClr val="17396B"/>
                </a:solidFill>
              </a:rPr>
              <a:t>Camada 1: 16 neurônios — tanh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07A5F"/>
                </a:solidFill>
              </a:rPr>
              <a:t>▸  </a:t>
            </a:r>
            <a:r>
              <a:rPr sz="1500">
                <a:solidFill>
                  <a:srgbClr val="17396B"/>
                </a:solidFill>
              </a:rPr>
              <a:t>Camada 2:   8 neurônios — tanh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07A5F"/>
                </a:solidFill>
              </a:rPr>
              <a:t>▸  </a:t>
            </a:r>
            <a:r>
              <a:rPr sz="1500">
                <a:solidFill>
                  <a:srgbClr val="17396B"/>
                </a:solidFill>
              </a:rPr>
              <a:t>Saída: 1 neurônio — linear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07A5F"/>
                </a:solidFill>
              </a:rPr>
              <a:t>▸  </a:t>
            </a:r>
            <a:r>
              <a:rPr sz="1500">
                <a:solidFill>
                  <a:srgbClr val="17396B"/>
                </a:solidFill>
              </a:rPr>
              <a:t>Adam  |  η = 0,01  |  1.000 épocas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Metodologia — Base de Dados Sintética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Equação geradora (com ruído gaussiano ε ~ N(0; 1,5) e interação não linear fc · 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7396B"/>
                </a:solidFill>
              </a:rPr>
              <a:t>P  =  0,35 · fc  +  12 · ρ  +  2,1 · d  −  0,02 · fc · d  +  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423160"/>
          <a:ext cx="8686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188720"/>
                <a:gridCol w="1737360"/>
                <a:gridCol w="1737360"/>
                <a:gridCol w="1280160"/>
              </a:tblGrid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fc (MPa)</a:t>
                      </a:r>
                    </a:p>
                  </a:txBody>
                  <a:tcPr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ρ (%)</a:t>
                      </a:r>
                    </a:p>
                  </a:txBody>
                  <a:tcPr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 (cm)</a:t>
                      </a:r>
                    </a:p>
                  </a:txBody>
                  <a:tcPr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 real (kN)</a:t>
                      </a:r>
                    </a:p>
                  </a:txBody>
                  <a:tcPr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 prev. (kN)</a:t>
                      </a:r>
                    </a:p>
                  </a:txBody>
                  <a:tcPr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Erro (%)</a:t>
                      </a:r>
                    </a:p>
                  </a:txBody>
                  <a:tcPr>
                    <a:solidFill>
                      <a:srgbClr val="17396B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78,4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78,26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−0,17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1,0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91,2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90,99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−0,23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104,5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105,04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+0,51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1,5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119,3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120,33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+0,86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138,7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138,84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+0,10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2,0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156,1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156,15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+0,03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2,2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172,9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172,14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−0,44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2,5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191,4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191,81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+0,22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93,8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93,52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−0,30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9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1,3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128,6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127,79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−0,63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— Métricas de Desempenho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325880"/>
            <a:ext cx="2651760" cy="164592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0,9998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25880"/>
            <a:ext cx="2651760" cy="164592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0,54 kN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2651760" cy="164592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0,44 kN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325880"/>
            <a:ext cx="2651760" cy="164592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0,292 kN²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430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2176AE"/>
                </a:solidFill>
              </a:rPr>
              <a:t>▸  </a:t>
            </a:r>
            <a:r>
              <a:rPr sz="1700">
                <a:solidFill>
                  <a:srgbClr val="555555"/>
                </a:solidFill>
              </a:rPr>
              <a:t>Todos os erros percentuais individuais abaixo de 1%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2176AE"/>
                </a:solidFill>
              </a:rPr>
              <a:t>▸  </a:t>
            </a:r>
            <a:r>
              <a:rPr sz="1700">
                <a:solidFill>
                  <a:srgbClr val="555555"/>
                </a:solidFill>
              </a:rPr>
              <a:t>MLP capturou o termo não linear fc · d com precisão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2176AE"/>
                </a:solidFill>
              </a:rPr>
              <a:t>▸  </a:t>
            </a:r>
            <a:r>
              <a:rPr sz="1700">
                <a:solidFill>
                  <a:srgbClr val="555555"/>
                </a:solidFill>
              </a:rPr>
              <a:t>Regressão Linear: R² = 0,9960 | RMSE = 2,24 kN — desempenho inferior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2176AE"/>
                </a:solidFill>
              </a:rPr>
              <a:t>▸  </a:t>
            </a:r>
            <a:r>
              <a:rPr sz="1700">
                <a:solidFill>
                  <a:srgbClr val="555555"/>
                </a:solidFill>
              </a:rPr>
              <a:t>Özyüksel Çiftçioğlu et al. (2025): R² = 0,982 — MLP proposta é superior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2176AE"/>
                </a:solidFill>
              </a:rPr>
              <a:t>▸  </a:t>
            </a:r>
            <a:r>
              <a:rPr sz="1700">
                <a:solidFill>
                  <a:srgbClr val="555555"/>
                </a:solidFill>
              </a:rPr>
              <a:t>Khan et al. (2023): RMSE empírico de 12–17 kN·m vs. 0,54 kN aqui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— Curva de Treinamento e Dispersão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1_curva_trein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760720" cy="3840480"/>
          </a:xfrm>
          <a:prstGeom prst="rect">
            <a:avLst/>
          </a:prstGeom>
        </p:spPr>
      </p:pic>
      <p:pic>
        <p:nvPicPr>
          <p:cNvPr id="6" name="Picture 5" descr="fig2_real_vs_previ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760720" cy="26185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806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MSE cai ~4 ordens de grandeza em 1.000 épocas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806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MLP (R²=0,9998) muito superior à Regressão Linear (R²=0,9960)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— Sensibilidade e Superfície 3D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3_sensib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3732711"/>
          </a:xfrm>
          <a:prstGeom prst="rect">
            <a:avLst/>
          </a:prstGeom>
        </p:spPr>
      </p:pic>
      <p:pic>
        <p:nvPicPr>
          <p:cNvPr id="6" name="Picture 5" descr="fig4_superfici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60520"/>
            <a:ext cx="11612880" cy="49769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7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Conclusões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430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2588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MLP (16–8–1, tanh) atingiu R² = 0,9998 e RMSE = 0,54 kN na base sintética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A rede capturou o termo não linear fc · d — algo fora do alcance de modelos lineares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Normalização min-max e otimizador Adam foram essenciais para convergência estável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Erros percentuais individuais inferiores a 1% em todas as 10 amostras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176AE"/>
                </a:solidFill>
              </a:rPr>
              <a:t>▸  </a:t>
            </a:r>
            <a:r>
              <a:rPr sz="1900">
                <a:solidFill>
                  <a:srgbClr val="555555"/>
                </a:solidFill>
              </a:rPr>
              <a:t>Resultado superior ao melhor modelo da literatura recente (R² = 0,982)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663440"/>
            <a:ext cx="1143000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7396B"/>
                </a:solidFill>
              </a:rPr>
              <a:t>Perspectivas futuras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E07A5F"/>
                </a:solidFill>
              </a:rPr>
              <a:t>▸  </a:t>
            </a:r>
            <a:r>
              <a:rPr sz="1600">
                <a:solidFill>
                  <a:srgbClr val="17396B"/>
                </a:solidFill>
              </a:rPr>
              <a:t>Ampliar base com dados experimentais reais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07A5F"/>
                </a:solidFill>
              </a:rPr>
              <a:t>▸  </a:t>
            </a:r>
            <a:r>
              <a:rPr sz="1600">
                <a:solidFill>
                  <a:srgbClr val="17396B"/>
                </a:solidFill>
              </a:rPr>
              <a:t>Avaliar generalização via validação cruzada k-fold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336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Disponibilidade do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github.com/JGF1987/mlp-viga-concreto-mcsm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6E4F0"/>
                </a:solidFill>
              </a:rPr>
              <a:t>Códigos: problema4_mlp.py  |  visualizacoes_p4.py  |  gerar_word_artigo.py
Figuras em alta resolução: pasta figuras/   |   Artigo LaTeX completo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65760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3840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Agradecimentos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6E4F0"/>
                </a:solidFill>
              </a:rPr>
              <a:t>Professor Marcos e Universidade Estadual de Montes Claros — UNIMONTES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5212080"/>
            <a:ext cx="11457432" cy="0"/>
          </a:xfrm>
          <a:prstGeom prst="line">
            <a:avLst/>
          </a:prstGeom>
          <a:ln w="25400">
            <a:solidFill>
              <a:srgbClr val="217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3949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Maria Luiza Almeida Xavier  ·  maria.luiza.a.xavier@gmail.com
Jordana Gabriela Fernandes   ·  jordana.funai@gmail.com
Rayre Janaína Vieira Silva    ·  rayrejanaina2@gmail.com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